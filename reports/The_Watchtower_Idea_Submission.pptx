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</a:rPr>
              <a:t>The Watchtower: Behavioural Anomaly Detection for Cybersecurity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502920" y="1691640"/>
            <a:ext cx="6400800" cy="379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 u="none" dirty="0">
                <a:solidFill>
                  <a:srgbClr val="1F497D"/>
                </a:solidFill>
                <a:latin typeface="Arial"/>
              </a:rPr>
              <a:t>Problem Statement ID – </a:t>
            </a:r>
            <a:r>
              <a:rPr sz="1350" dirty="0">
                <a:solidFill>
                  <a:srgbClr val="1A1A1A"/>
                </a:solidFill>
                <a:latin typeface="Arial"/>
              </a:rPr>
              <a:t>Q4</a:t>
            </a:r>
            <a:endParaRPr lang="en-US" dirty="0"/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 u="none" dirty="0">
                <a:solidFill>
                  <a:srgbClr val="1F497D"/>
                </a:solidFill>
                <a:latin typeface="Arial"/>
              </a:rPr>
              <a:t>Problem Statement Title – </a:t>
            </a:r>
            <a:r>
              <a:rPr sz="1350" dirty="0">
                <a:solidFill>
                  <a:srgbClr val="1A1A1A"/>
                </a:solidFill>
                <a:latin typeface="Arial"/>
              </a:rPr>
              <a:t>AI-Powered </a:t>
            </a:r>
            <a:r>
              <a:rPr sz="1350" dirty="0" err="1">
                <a:solidFill>
                  <a:srgbClr val="1A1A1A"/>
                </a:solidFill>
                <a:latin typeface="Arial"/>
              </a:rPr>
              <a:t>Behavioural</a:t>
            </a:r>
            <a:r>
              <a:rPr sz="1350" dirty="0">
                <a:solidFill>
                  <a:srgbClr val="1A1A1A"/>
                </a:solidFill>
                <a:latin typeface="Arial"/>
              </a:rPr>
              <a:t> Anomaly Detection
for Cybersecurity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 u="none" dirty="0">
                <a:solidFill>
                  <a:srgbClr val="1F497D"/>
                </a:solidFill>
                <a:latin typeface="Arial"/>
              </a:rPr>
              <a:t>Theme – </a:t>
            </a:r>
            <a:r>
              <a:rPr sz="1350" dirty="0">
                <a:solidFill>
                  <a:srgbClr val="1A1A1A"/>
                </a:solidFill>
                <a:latin typeface="Arial"/>
              </a:rPr>
              <a:t>Cybersecurity  |  AI &amp; Machine Learning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 u="none" dirty="0">
                <a:solidFill>
                  <a:srgbClr val="1F497D"/>
                </a:solidFill>
                <a:latin typeface="Arial"/>
              </a:rPr>
              <a:t>PS Category – </a:t>
            </a:r>
            <a:r>
              <a:rPr sz="1350" dirty="0">
                <a:solidFill>
                  <a:srgbClr val="1A1A1A"/>
                </a:solidFill>
                <a:latin typeface="Arial"/>
              </a:rPr>
              <a:t>Software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 u="none" dirty="0">
                <a:solidFill>
                  <a:srgbClr val="1F497D"/>
                </a:solidFill>
                <a:latin typeface="Arial"/>
              </a:rPr>
              <a:t>Student Name – </a:t>
            </a:r>
            <a:r>
              <a:rPr sz="1350" dirty="0">
                <a:solidFill>
                  <a:srgbClr val="1A1A1A"/>
                </a:solidFill>
                <a:latin typeface="Arial"/>
              </a:rPr>
              <a:t>Niti Ashish Kanoongo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 u="none" dirty="0">
                <a:solidFill>
                  <a:srgbClr val="1F497D"/>
                </a:solidFill>
                <a:latin typeface="Arial"/>
              </a:rPr>
              <a:t>Student ID – </a:t>
            </a:r>
            <a:r>
              <a:rPr lang="en-IN" sz="1350" b="1" i="0" u="none" dirty="0">
                <a:solidFill>
                  <a:srgbClr val="1A1A1A"/>
                </a:solidFill>
                <a:latin typeface="Arial"/>
              </a:rPr>
              <a:t>23BAI10955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lang="en-IN" sz="1350" b="1" dirty="0">
                <a:solidFill>
                  <a:srgbClr val="1A1A1A"/>
                </a:solidFill>
                <a:latin typeface="Arial"/>
              </a:rPr>
              <a:t>VIT Bhopal University</a:t>
            </a:r>
            <a:br>
              <a:rPr lang="en-IN" sz="1350" b="1" dirty="0">
                <a:solidFill>
                  <a:srgbClr val="1A1A1A"/>
                </a:solidFill>
                <a:latin typeface="Arial"/>
              </a:rPr>
            </a:br>
            <a:br>
              <a:rPr lang="en-IN" sz="1350" b="1" dirty="0">
                <a:solidFill>
                  <a:srgbClr val="1A1A1A"/>
                </a:solidFill>
                <a:latin typeface="Arial"/>
              </a:rPr>
            </a:br>
            <a:r>
              <a:rPr lang="en-US" sz="1400" b="1" dirty="0">
                <a:solidFill>
                  <a:srgbClr val="4F8A5B"/>
                </a:solidFill>
                <a:latin typeface="Arial"/>
              </a:rPr>
              <a:t>Project repository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400" dirty="0">
                <a:solidFill>
                  <a:srgbClr val="1A1A1A"/>
                </a:solidFill>
                <a:latin typeface="Arial"/>
              </a:rPr>
              <a:t>github.com/</a:t>
            </a:r>
            <a:r>
              <a:rPr lang="en-US" sz="1400" dirty="0" err="1">
                <a:solidFill>
                  <a:srgbClr val="1A1A1A"/>
                </a:solidFill>
                <a:latin typeface="Arial"/>
              </a:rPr>
              <a:t>okayniti</a:t>
            </a:r>
            <a:r>
              <a:rPr lang="en-US" sz="1400" dirty="0">
                <a:solidFill>
                  <a:srgbClr val="1A1A1A"/>
                </a:solidFill>
                <a:latin typeface="Arial"/>
              </a:rPr>
              <a:t>/The-Watchtower  —  full source, synthetic data generator, evaluation harness and analyst dashboard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endParaRPr sz="135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78040" y="1691640"/>
            <a:ext cx="4526280" cy="2971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wrap="square" lIns="256032" tIns="219456" rIns="256032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 u="none">
                <a:solidFill>
                  <a:srgbClr val="FFFFFF"/>
                </a:solidFill>
                <a:latin typeface="Arial"/>
              </a:rPr>
              <a:t>THE WATCHTOWER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50" b="0" i="1" u="none">
                <a:solidFill>
                  <a:srgbClr val="C5D3E8"/>
                </a:solidFill>
                <a:latin typeface="Arial"/>
              </a:rPr>
              <a:t>A detector an analyst can trust.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200" b="1" i="0" u="none">
                <a:solidFill>
                  <a:srgbClr val="FFFFFF"/>
                </a:solidFill>
                <a:latin typeface="Arial"/>
              </a:rPr>
              <a:t>87.8%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C5D3E8"/>
                </a:solidFill>
                <a:latin typeface="Arial"/>
              </a:rPr>
              <a:t>precision within the top 1% of events
an analyst can actually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864608"/>
            <a:ext cx="45262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 u="none">
                <a:solidFill>
                  <a:srgbClr val="1F497D"/>
                </a:solidFill>
                <a:latin typeface="Arial"/>
              </a:rPr>
              <a:t>12.5× the best rule-based detector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u="none">
                <a:solidFill>
                  <a:srgbClr val="5A6370"/>
                </a:solidFill>
                <a:latin typeface="Arial"/>
              </a:rPr>
              <a:t>Working prototype · github.com/okayniti/The-Watchtower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3400" b="1">
                <a:latin typeface="Times New Roman"/>
              </a:rPr>
              <a:t>THE WATCHTOWER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298448"/>
            <a:ext cx="672084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Detailed explanation of the proposed solution</a:t>
            </a:r>
          </a:p>
          <a:p>
            <a:pPr marL="146304" algn="l"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Learns every user, service account and device's own behavioural normal — hours, locations, resources, hardware, commands</a:t>
            </a:r>
          </a:p>
          <a:p>
            <a:pPr marL="146304" algn="l"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A GRU sequence model risk-scores each access event; a classifier names which of six attack types it resembles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How it addresses the problem</a:t>
            </a:r>
          </a:p>
          <a:p>
            <a:pPr marL="146304" algn="l"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Signature rules miss novel and slow intrusions — naive single-feature rules reach only 1.1–7.0% precision on our data</a:t>
            </a:r>
          </a:p>
          <a:p>
            <a:pPr marL="146304" algn="l"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Analysts can review ~1% of events; The Watchtower puts real attacks in that 1% instead of noise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  <a:p>
            <a:pPr marL="146304" algn="l"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Explains what it did NOT flag — 769 near-misses suppressed with reasons, so analysts trust the threshold instead of lowering it</a:t>
            </a:r>
          </a:p>
          <a:p>
            <a:pPr marL="146304" algn="l">
              <a:spcBef>
                <a:spcPts val="0"/>
              </a:spcBef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Learns that a legitimate role change is the new normal: false alarms fall 0.78% → 0.19% once it settles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3" name="Picture 15362" descr="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44752"/>
            <a:ext cx="4389120" cy="1810896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360920" y="3675887"/>
            <a:ext cx="43891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1" u="none">
                <a:solidFill>
                  <a:srgbClr val="5A6370"/>
                </a:solidFill>
                <a:latin typeface="Arial"/>
              </a:rPr>
              <a:t>Precision at a 1% analyst alert budget</a:t>
            </a:r>
          </a:p>
        </p:txBody>
      </p:sp>
      <p:pic>
        <p:nvPicPr>
          <p:cNvPr id="15365" name="Picture 15364" descr="expl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041648"/>
            <a:ext cx="4389120" cy="19392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98448"/>
            <a:ext cx="11201400" cy="187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</a:rPr>
              <a:t>–  Python · PyTorch (2-layer GRU) · scikit-learn · pandas / NumPy · Streamlit analyst dashboard · Faker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300" b="0" i="0" u="none">
                <a:solidFill>
                  <a:srgbClr val="1A1A1A"/>
                </a:solidFill>
                <a:latin typeface="Arial"/>
              </a:rPr>
              <a:t>–  CPU-only training · fully deterministic under a fixed seed · no proprietary data required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54096"/>
            <a:ext cx="11247120" cy="2467893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502920" y="5504688"/>
            <a:ext cx="112014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–  Synthetic corpus: 90,495 events · 500 entities · 30 days · 1.4% attack rate, with each attack deliberately overlapping a legitimate behaviour (business travel, VPN egress, hardware refresh, mistyped passwords)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–  Time-based train / validation split · labels held in a separate file so they can never reach the inference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98448"/>
            <a:ext cx="626364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–  End-to-end prototype already working: generator → profiler → detector → classifier → explainer → dashboard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–  Trains on CPU in minutes; every feature is causal, so the batch pipeline moves to a live stream unchanged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Potential challenges and risks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–  Extreme class imbalance (1.4%) · concept drift · cold-start entities with no history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–  Attacks that hide inside normal ranges — low-and-slow exfiltration is detected (0.77 recall) but hardest to label (0.17 F1)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Strategies for overcoming these challenges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–  Class-weighted loss · time-decayed baselines · peer-group scoring for entities with no history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–  Alerting tuned to analyst capacity rather than a fixed threshold, so the queue stays reviewable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371600"/>
            <a:ext cx="4800600" cy="2649836"/>
          </a:xfrm>
          <a:prstGeom prst="rect">
            <a:avLst/>
          </a:prstGeom>
        </p:spPr>
      </p:pic>
      <p:pic>
        <p:nvPicPr>
          <p:cNvPr id="17412" name="Picture 17411" descr="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913632"/>
            <a:ext cx="4800600" cy="210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" y="1298448"/>
            <a:ext cx="603504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Relevant artifacts, such as :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Copy of the Code Embedded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50" b="1" i="0" u="none">
                <a:solidFill>
                  <a:srgbClr val="1F497D"/>
                </a:solidFill>
                <a:latin typeface="Arial"/>
              </a:rPr>
              <a:t>–  github.com/okayniti/The-Watchtower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7 modules · generator, features, profiler, GRU detector, classifier, explainer, dashboard — reproducible byte-for-byte from a fixed seed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Snaps of the solution proposal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Every alert carries a plain-English reason, and every suppression carries one too — shown right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350" b="1" i="0" u="sng">
                <a:solidFill>
                  <a:srgbClr val="1F497D"/>
                </a:solidFill>
                <a:latin typeface="Arial"/>
              </a:rPr>
              <a:t>Dashboard snaps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Ranked alert queue with an adjustable analyst budget; moving the slider shows precision move 97.8% → 20.2% live</a:t>
            </a:r>
          </a:p>
          <a:p>
            <a:pPr marL="146304" algn="l"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>–  Alert detail, contributing factors, entity timeline, trust panel, cold-start badges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89888"/>
            <a:ext cx="5029200" cy="146920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720840" y="3310128"/>
            <a:ext cx="5029200" cy="2606040"/>
          </a:xfrm>
          <a:prstGeom prst="rect">
            <a:avLst/>
          </a:prstGeom>
          <a:solidFill>
            <a:srgbClr val="F2F5FA"/>
          </a:solidFill>
          <a:ln w="15875">
            <a:solidFill>
              <a:srgbClr val="1F497D"/>
            </a:solidFill>
          </a:ln>
        </p:spPr>
        <p:txBody>
          <a:bodyPr wrap="square" lIns="182880" tIns="164592" rIns="18288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DASHBOARD SCREENSHOT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 u="none">
                <a:solidFill>
                  <a:srgbClr val="5A6370"/>
                </a:solidFill>
                <a:latin typeface="Arial"/>
              </a:rPr>
              <a:t>Replace this box with a screenshot of the running Streamlit dashboard — the ranked alert queue with the budget slider visible makes the strongest single image.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1" u="none">
                <a:solidFill>
                  <a:srgbClr val="1A1A1A"/>
                </a:solidFill>
                <a:latin typeface="Arial"/>
              </a:rPr>
              <a:t>streamlit run dashboard/app.py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325880"/>
            <a:ext cx="11201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50" b="1" i="0" u="sng" dirty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u="none" dirty="0">
                <a:solidFill>
                  <a:srgbClr val="1A1A1A"/>
                </a:solidFill>
                <a:latin typeface="Arial"/>
              </a:rPr>
              <a:t>–  </a:t>
            </a:r>
            <a:r>
              <a:rPr sz="1250" b="1" dirty="0">
                <a:solidFill>
                  <a:srgbClr val="1F497D"/>
                </a:solidFill>
                <a:latin typeface="Arial"/>
              </a:rPr>
              <a:t>MITRE ATT&amp;CK Framework</a:t>
            </a:r>
            <a:r>
              <a:rPr sz="1250" dirty="0">
                <a:solidFill>
                  <a:srgbClr val="1A1A1A"/>
                </a:solidFill>
                <a:latin typeface="Arial"/>
              </a:rPr>
              <a:t>  —  adversary tactics and techniques used to define the six attack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behaviours</a:t>
            </a:r>
            <a:r>
              <a:rPr sz="1250" dirty="0">
                <a:solidFill>
                  <a:srgbClr val="1A1A1A"/>
                </a:solidFill>
                <a:latin typeface="Arial"/>
              </a:rPr>
              <a:t> modelled  ·  attack.mitre.org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u="none" dirty="0">
                <a:solidFill>
                  <a:srgbClr val="1A1A1A"/>
                </a:solidFill>
                <a:latin typeface="Arial"/>
              </a:rPr>
              <a:t>–  </a:t>
            </a:r>
            <a:r>
              <a:rPr sz="1250" b="1" dirty="0">
                <a:solidFill>
                  <a:srgbClr val="1F497D"/>
                </a:solidFill>
                <a:latin typeface="Arial"/>
              </a:rPr>
              <a:t>NIST SP 800-94</a:t>
            </a:r>
            <a:r>
              <a:rPr sz="1250" dirty="0">
                <a:solidFill>
                  <a:srgbClr val="1A1A1A"/>
                </a:solidFill>
                <a:latin typeface="Arial"/>
              </a:rPr>
              <a:t>  —  Guide to Intrusion Detection and Prevention Systems — alert-handling and analyst-workload guidance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u="none" dirty="0">
                <a:solidFill>
                  <a:srgbClr val="1A1A1A"/>
                </a:solidFill>
                <a:latin typeface="Arial"/>
              </a:rPr>
              <a:t>–  </a:t>
            </a:r>
            <a:r>
              <a:rPr sz="1250" b="1" dirty="0">
                <a:solidFill>
                  <a:srgbClr val="1F497D"/>
                </a:solidFill>
                <a:latin typeface="Arial"/>
              </a:rPr>
              <a:t>Chandola, Banerjee &amp; Kumar (2009)</a:t>
            </a:r>
            <a:r>
              <a:rPr sz="1250" dirty="0">
                <a:solidFill>
                  <a:srgbClr val="1A1A1A"/>
                </a:solidFill>
                <a:latin typeface="Arial"/>
              </a:rPr>
              <a:t>  —  “Anomaly Detection: A Survey”, ACM Computing Surveys 41(3) — taxonomy underpinning the profiler design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u="none" dirty="0">
                <a:solidFill>
                  <a:srgbClr val="1A1A1A"/>
                </a:solidFill>
                <a:latin typeface="Arial"/>
              </a:rPr>
              <a:t>–  </a:t>
            </a:r>
            <a:r>
              <a:rPr sz="1250" b="1" dirty="0">
                <a:solidFill>
                  <a:srgbClr val="1F497D"/>
                </a:solidFill>
                <a:latin typeface="Arial"/>
              </a:rPr>
              <a:t>Malhotra et al. (2015)</a:t>
            </a:r>
            <a:r>
              <a:rPr sz="1250" dirty="0">
                <a:solidFill>
                  <a:srgbClr val="1A1A1A"/>
                </a:solidFill>
                <a:latin typeface="Arial"/>
              </a:rPr>
              <a:t>  —  “Long Short Term Memory Networks for Anomaly Detection in Time Series”, ESANN — basis for the sequence-model approach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u="none" dirty="0">
                <a:solidFill>
                  <a:srgbClr val="1A1A1A"/>
                </a:solidFill>
                <a:latin typeface="Arial"/>
              </a:rPr>
              <a:t>–  </a:t>
            </a:r>
            <a:r>
              <a:rPr sz="1250" b="1" dirty="0">
                <a:solidFill>
                  <a:srgbClr val="1F497D"/>
                </a:solidFill>
                <a:latin typeface="Arial"/>
              </a:rPr>
              <a:t>CMU SEI CERT Insider Threat Dataset</a:t>
            </a:r>
            <a:r>
              <a:rPr sz="1250" dirty="0">
                <a:solidFill>
                  <a:srgbClr val="1A1A1A"/>
                </a:solidFill>
                <a:latin typeface="Arial"/>
              </a:rPr>
              <a:t>  —  reference </a:t>
            </a:r>
            <a:r>
              <a:rPr sz="1250" dirty="0" err="1">
                <a:solidFill>
                  <a:srgbClr val="1A1A1A"/>
                </a:solidFill>
                <a:latin typeface="Arial"/>
              </a:rPr>
              <a:t>behaviour</a:t>
            </a:r>
            <a:r>
              <a:rPr sz="1250" dirty="0">
                <a:solidFill>
                  <a:srgbClr val="1A1A1A"/>
                </a:solidFill>
                <a:latin typeface="Arial"/>
              </a:rPr>
              <a:t> for modelling gradual, legitimate privilege expansion (insider drift)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 i="0" u="none" dirty="0">
                <a:solidFill>
                  <a:srgbClr val="1A1A1A"/>
                </a:solidFill>
                <a:latin typeface="Arial"/>
              </a:rPr>
              <a:t>–  </a:t>
            </a:r>
            <a:r>
              <a:rPr sz="1250" b="1" dirty="0">
                <a:solidFill>
                  <a:srgbClr val="1F497D"/>
                </a:solidFill>
                <a:latin typeface="Arial"/>
              </a:rPr>
              <a:t>Verizon Data Breach Investigations Report</a:t>
            </a:r>
            <a:r>
              <a:rPr sz="1250" dirty="0">
                <a:solidFill>
                  <a:srgbClr val="1A1A1A"/>
                </a:solidFill>
                <a:latin typeface="Arial"/>
              </a:rPr>
              <a:t>  —  prevalence of credential abuse and stolen-credential intrusions, informing class priors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50" b="1" i="0" u="none" dirty="0">
                <a:solidFill>
                  <a:srgbClr val="4F8A5B"/>
                </a:solidFill>
                <a:latin typeface="Arial"/>
              </a:rPr>
              <a:t>Project repository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 dirty="0">
                <a:solidFill>
                  <a:srgbClr val="1A1A1A"/>
                </a:solidFill>
                <a:latin typeface="Arial"/>
              </a:rPr>
              <a:t>github.com/</a:t>
            </a:r>
            <a:r>
              <a:rPr sz="1250" b="0" i="0" u="none" dirty="0" err="1">
                <a:solidFill>
                  <a:srgbClr val="1A1A1A"/>
                </a:solidFill>
                <a:latin typeface="Arial"/>
              </a:rPr>
              <a:t>okayniti</a:t>
            </a:r>
            <a:r>
              <a:rPr sz="1250" b="0" i="0" u="none" dirty="0">
                <a:solidFill>
                  <a:srgbClr val="1A1A1A"/>
                </a:solidFill>
                <a:latin typeface="Arial"/>
              </a:rPr>
              <a:t>/The-Watchtower  —  full source, synthetic data generator, evaluation harness and analyst dashboard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7676</TotalTime>
  <Words>894</Words>
  <Application>Microsoft Office PowerPoint</Application>
  <PresentationFormat>Widescreen</PresentationFormat>
  <Paragraphs>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THE WATCHTOWER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Niti</dc:creator>
  <cp:keywords/>
  <dc:description/>
  <cp:lastModifiedBy>Niti Kanoongo</cp:lastModifiedBy>
  <cp:revision>154</cp:revision>
  <cp:lastPrinted>2026-07-26T15:14:45Z</cp:lastPrinted>
  <dcterms:created xsi:type="dcterms:W3CDTF">2013-12-12T18:46:50Z</dcterms:created>
  <dcterms:modified xsi:type="dcterms:W3CDTF">2026-07-26T15:21:09Z</dcterms:modified>
  <cp:category/>
</cp:coreProperties>
</file>